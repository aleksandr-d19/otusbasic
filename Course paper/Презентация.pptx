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312" r:id="rId11"/>
    <p:sldId id="299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01" r:id="rId21"/>
    <p:sldId id="264" r:id="rId22"/>
    <p:sldId id="265" r:id="rId23"/>
    <p:sldId id="266" r:id="rId24"/>
    <p:sldId id="298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4C86600-BBAA-4A37-8080-81F2DBB2994A}">
  <a:tblStyle styleId="{84C86600-BBAA-4A37-8080-81F2DBB299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-744" y="-108"/>
      </p:cViewPr>
      <p:guideLst>
        <p:guide orient="horz" pos="3240"/>
        <p:guide orient="horz"/>
        <p:guide orient="horz" pos="510"/>
        <p:guide pos="5533"/>
        <p:guide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6949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1495325"/>
        </p:xfrm>
        <a:graphic>
          <a:graphicData uri="http://schemas.openxmlformats.org/drawingml/2006/table">
            <a:tbl>
              <a:tblPr>
                <a:noFill/>
                <a:tableStyleId>{84C86600-BBAA-4A37-8080-81F2DBB2994A}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сети интернет провайдера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39226"/>
            <a:ext cx="2407800" cy="71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engineer. Basic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Александр </a:t>
            </a:r>
            <a:r>
              <a:rPr lang="ru-RU" sz="2300" b="1" dirty="0" err="1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Дорожкин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4806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Специалист технической поддержки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1" y="1835673"/>
            <a:ext cx="2032814" cy="2319468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403551" y="80100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732550054"/>
              </p:ext>
            </p:extLst>
          </p:nvPr>
        </p:nvGraphicFramePr>
        <p:xfrm>
          <a:off x="850141" y="1622222"/>
          <a:ext cx="7239000" cy="4380293"/>
        </p:xfrm>
        <a:graphic>
          <a:graphicData uri="http://schemas.openxmlformats.org/drawingml/2006/table">
            <a:tbl>
              <a:tblPr>
                <a:noFill/>
                <a:tableStyleId>{84C86600-BBAA-4A37-8080-81F2DBB2994A}</a:tableStyleId>
              </a:tblPr>
              <a:tblGrid>
                <a:gridCol w="489425"/>
                <a:gridCol w="6749575"/>
              </a:tblGrid>
              <a:tr h="6727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Разработать топологию сети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27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Создать VLAN для абонентов и управления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27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Настроить STP и резервные связи между коммутаторами доступа и распределения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27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 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Настроить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DHCP-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сервер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NTP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ACL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SSH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Провести тестирование и зафиксировать результаты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7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348471" y="832173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600" b="1" dirty="0"/>
              <a:t>Создание сети </a:t>
            </a:r>
            <a:r>
              <a:rPr lang="ru-RU" sz="1600" b="1" dirty="0" err="1"/>
              <a:t>интернет-провайдера</a:t>
            </a:r>
            <a:r>
              <a:rPr lang="ru-RU" sz="1600" b="1" dirty="0"/>
              <a:t> в </a:t>
            </a:r>
            <a:r>
              <a:rPr lang="ru-RU" sz="1600" b="1" dirty="0" err="1"/>
              <a:t>Cisco</a:t>
            </a:r>
            <a:r>
              <a:rPr lang="ru-RU" sz="1600" b="1" dirty="0"/>
              <a:t> </a:t>
            </a:r>
            <a:r>
              <a:rPr lang="ru-RU" sz="1600" b="1" dirty="0" err="1"/>
              <a:t>Packet</a:t>
            </a:r>
            <a:r>
              <a:rPr lang="ru-RU" sz="1600" b="1" dirty="0"/>
              <a:t> </a:t>
            </a:r>
            <a:r>
              <a:rPr lang="ru-RU" sz="1600" b="1" dirty="0" err="1"/>
              <a:t>Tracer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998741357"/>
              </p:ext>
            </p:extLst>
          </p:nvPr>
        </p:nvGraphicFramePr>
        <p:xfrm>
          <a:off x="279779" y="1023581"/>
          <a:ext cx="8277368" cy="4523346"/>
        </p:xfrm>
        <a:graphic>
          <a:graphicData uri="http://schemas.openxmlformats.org/drawingml/2006/table">
            <a:tbl>
              <a:tblPr>
                <a:noFill/>
                <a:tableStyleId>{84C86600-BBAA-4A37-8080-81F2DBB2994A}</a:tableStyleId>
              </a:tblPr>
              <a:tblGrid>
                <a:gridCol w="518615"/>
                <a:gridCol w="7758753"/>
              </a:tblGrid>
              <a:tr h="8106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                                </a:t>
                      </a:r>
                      <a:r>
                        <a:rPr lang="en-US" sz="1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-RU" sz="1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ru-RU" sz="1600" b="1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NTP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06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DHCP                                           </a:t>
                      </a:r>
                      <a:r>
                        <a:rPr lang="en-US" sz="16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SSH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06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ACL                                              </a:t>
                      </a:r>
                      <a:r>
                        <a:rPr lang="en-US" sz="16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r>
                        <a:rPr lang="ru-RU" sz="16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3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baseline="0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STP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b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06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3000" dirty="0"/>
              <a:t/>
            </a:r>
            <a:br>
              <a:rPr lang="en-US" sz="3000" dirty="0"/>
            </a:br>
            <a:r>
              <a:rPr lang="ru-RU" sz="1600" b="0" dirty="0"/>
              <a:t>В ходе выполнения курсовой работы разработана модель сети </a:t>
            </a:r>
            <a:r>
              <a:rPr lang="ru-RU" sz="1600" b="0" dirty="0" err="1"/>
              <a:t>интернет-провайдера</a:t>
            </a:r>
            <a:r>
              <a:rPr lang="ru-RU" sz="1600" b="0" dirty="0"/>
              <a:t> в CPT, включающая сегментацию по VLAN, отказоустойчивые соединения и шлюз по умолчанию, централизованную выдачу IP по DHCP, синхронизацию времени по NTP, защиту доступа ACL, удаленное администрирование по SSH и выход в интернет через NAT.</a:t>
            </a:r>
            <a:br>
              <a:rPr lang="ru-RU" sz="1600" b="0" dirty="0"/>
            </a:br>
            <a:r>
              <a:rPr lang="ru-RU" sz="1600" b="0" dirty="0"/>
              <a:t>Реализована базовая безопасность: ограничение управления только из VLAN99, два администратора с разными правами, а также </a:t>
            </a:r>
            <a:r>
              <a:rPr lang="ru-RU" sz="1600" b="0" dirty="0" err="1"/>
              <a:t>Port-Security</a:t>
            </a:r>
            <a:r>
              <a:rPr lang="ru-RU" sz="1600" b="0" dirty="0"/>
              <a:t> на </a:t>
            </a:r>
            <a:r>
              <a:rPr lang="ru-RU" sz="1600" b="0" dirty="0" err="1"/>
              <a:t>access</a:t>
            </a:r>
            <a:r>
              <a:rPr lang="ru-RU" sz="1600" b="0" dirty="0"/>
              <a:t>-портах (максимум 3 MAC-адреса). Проведенные тесты подтверждают работоспособность сети и устойчивость к отказу отдельных линий связи.</a:t>
            </a:r>
            <a:r>
              <a:rPr lang="ru-RU" sz="2800" b="0" dirty="0"/>
              <a:t/>
            </a:r>
            <a:br>
              <a:rPr lang="ru-RU" sz="2800" b="0" dirty="0"/>
            </a:br>
            <a:endParaRPr sz="3000" dirty="0"/>
          </a:p>
        </p:txBody>
      </p:sp>
      <p:sp>
        <p:nvSpPr>
          <p:cNvPr id="207" name="Google Shape;207;p41"/>
          <p:cNvSpPr txBox="1"/>
          <p:nvPr/>
        </p:nvSpPr>
        <p:spPr>
          <a:xfrm>
            <a:off x="4451356" y="1209090"/>
            <a:ext cx="41828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Топология сети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Edge/Core:</a:t>
            </a:r>
            <a:r>
              <a:rPr lang="en-US" dirty="0"/>
              <a:t> R‑EDGE (NAT/PAT, </a:t>
            </a:r>
            <a:r>
              <a:rPr lang="ru-RU" dirty="0"/>
              <a:t>маршрутизация к “Интернету”)</a:t>
            </a:r>
          </a:p>
          <a:p>
            <a:r>
              <a:rPr lang="en-US" b="1" dirty="0"/>
              <a:t>Distribution:</a:t>
            </a:r>
            <a:r>
              <a:rPr lang="en-US" dirty="0"/>
              <a:t> DSW1 + DSW2 (L3, SVI, HSRP, ACL, STP root, DHCP Relay)</a:t>
            </a:r>
          </a:p>
          <a:p>
            <a:r>
              <a:rPr lang="en-US" b="1" dirty="0"/>
              <a:t>Access:</a:t>
            </a:r>
            <a:r>
              <a:rPr lang="en-US" dirty="0"/>
              <a:t> ASW1 + ASW2 (</a:t>
            </a:r>
            <a:r>
              <a:rPr lang="ru-RU" dirty="0"/>
              <a:t>подключение абонентов, </a:t>
            </a:r>
            <a:r>
              <a:rPr lang="en-US" dirty="0"/>
              <a:t>trunk, Port‑Security)</a:t>
            </a:r>
          </a:p>
          <a:p>
            <a:r>
              <a:rPr lang="en-US" b="1" dirty="0"/>
              <a:t>Services:</a:t>
            </a:r>
            <a:r>
              <a:rPr lang="en-US" dirty="0"/>
              <a:t> Server‑SERV (DHCP/DNS/NTP)</a:t>
            </a:r>
          </a:p>
          <a:p>
            <a:r>
              <a:rPr lang="en-US" b="1" dirty="0"/>
              <a:t>Internet:</a:t>
            </a:r>
            <a:r>
              <a:rPr lang="en-US" dirty="0"/>
              <a:t> R‑ISP + Internet Server (</a:t>
            </a:r>
            <a:r>
              <a:rPr lang="ru-RU" dirty="0"/>
              <a:t>эмуляция внешней сети/ресурса)</a:t>
            </a:r>
          </a:p>
        </p:txBody>
      </p:sp>
    </p:spTree>
    <p:extLst>
      <p:ext uri="{BB962C8B-B14F-4D97-AF65-F5344CB8AC3E}">
        <p14:creationId xmlns:p14="http://schemas.microsoft.com/office/powerpoint/2010/main" val="234992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Топология сети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5" y="1169894"/>
            <a:ext cx="9110835" cy="39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Используемое оборудование и роли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Маршрутизаторы</a:t>
            </a:r>
            <a:endParaRPr lang="ru-RU" dirty="0"/>
          </a:p>
          <a:p>
            <a:r>
              <a:rPr lang="en-US" b="1" dirty="0"/>
              <a:t>R‑EDGE (ISR 2911):</a:t>
            </a:r>
            <a:r>
              <a:rPr lang="en-US" dirty="0"/>
              <a:t> NAT/PAT, default route </a:t>
            </a:r>
            <a:r>
              <a:rPr lang="ru-RU" dirty="0"/>
              <a:t>в Интернет, </a:t>
            </a:r>
            <a:r>
              <a:rPr lang="en-US" dirty="0"/>
              <a:t>SSH, NTP‑</a:t>
            </a:r>
            <a:r>
              <a:rPr lang="ru-RU" dirty="0"/>
              <a:t>клиент</a:t>
            </a:r>
          </a:p>
          <a:p>
            <a:r>
              <a:rPr lang="en-US" b="1" dirty="0"/>
              <a:t>R‑ISP (ISR </a:t>
            </a:r>
            <a:r>
              <a:rPr lang="en-US" b="1" dirty="0" smtClean="0"/>
              <a:t>2911):</a:t>
            </a:r>
            <a:r>
              <a:rPr lang="en-US" dirty="0" smtClean="0"/>
              <a:t> </a:t>
            </a:r>
            <a:r>
              <a:rPr lang="ru-RU" dirty="0"/>
              <a:t>эмуляция провайдера/Интернета</a:t>
            </a:r>
          </a:p>
          <a:p>
            <a:r>
              <a:rPr lang="ru-RU" b="1" dirty="0"/>
              <a:t>Коммутаторы </a:t>
            </a:r>
            <a:r>
              <a:rPr lang="en-US" b="1" dirty="0"/>
              <a:t>Distribution</a:t>
            </a:r>
            <a:endParaRPr lang="en-US" dirty="0"/>
          </a:p>
          <a:p>
            <a:r>
              <a:rPr lang="en-US" b="1" dirty="0"/>
              <a:t>DSW1 </a:t>
            </a:r>
            <a:r>
              <a:rPr lang="en-US" b="1" dirty="0" smtClean="0"/>
              <a:t>(3560</a:t>
            </a:r>
            <a:r>
              <a:rPr lang="en-US" b="1" dirty="0"/>
              <a:t>):</a:t>
            </a:r>
            <a:r>
              <a:rPr lang="en-US" dirty="0"/>
              <a:t> inter‑VLAN routing, HSRP Active </a:t>
            </a:r>
            <a:r>
              <a:rPr lang="ru-RU" dirty="0"/>
              <a:t>для </a:t>
            </a:r>
            <a:r>
              <a:rPr lang="en-US" dirty="0"/>
              <a:t>VLAN10/30/99, STP root </a:t>
            </a:r>
            <a:r>
              <a:rPr lang="ru-RU" dirty="0"/>
              <a:t>для </a:t>
            </a:r>
            <a:r>
              <a:rPr lang="en-US" dirty="0"/>
              <a:t>VLAN10/30/99</a:t>
            </a:r>
          </a:p>
          <a:p>
            <a:r>
              <a:rPr lang="en-US" b="1" dirty="0"/>
              <a:t>DSW2 </a:t>
            </a:r>
            <a:r>
              <a:rPr lang="en-US" b="1" dirty="0" smtClean="0"/>
              <a:t>(3560</a:t>
            </a:r>
            <a:r>
              <a:rPr lang="en-US" b="1" dirty="0"/>
              <a:t>):</a:t>
            </a:r>
            <a:r>
              <a:rPr lang="en-US" dirty="0"/>
              <a:t> HSRP Active </a:t>
            </a:r>
            <a:r>
              <a:rPr lang="ru-RU" dirty="0"/>
              <a:t>для </a:t>
            </a:r>
            <a:r>
              <a:rPr lang="en-US" dirty="0"/>
              <a:t>VLAN20, STP root </a:t>
            </a:r>
            <a:r>
              <a:rPr lang="ru-RU" dirty="0"/>
              <a:t>для </a:t>
            </a:r>
            <a:r>
              <a:rPr lang="en-US" dirty="0"/>
              <a:t>VLAN20</a:t>
            </a:r>
          </a:p>
          <a:p>
            <a:r>
              <a:rPr lang="ru-RU" b="1" dirty="0"/>
              <a:t>Коммутаторы </a:t>
            </a:r>
            <a:r>
              <a:rPr lang="en-US" b="1" dirty="0"/>
              <a:t>Access</a:t>
            </a:r>
            <a:endParaRPr lang="en-US" dirty="0"/>
          </a:p>
          <a:p>
            <a:r>
              <a:rPr lang="en-US" b="1" dirty="0"/>
              <a:t>ASW1/ASW2 </a:t>
            </a:r>
            <a:r>
              <a:rPr lang="en-US" b="1" dirty="0" smtClean="0"/>
              <a:t>(2960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ru-RU" dirty="0"/>
              <a:t>абонентские порты + </a:t>
            </a:r>
            <a:r>
              <a:rPr lang="en-US" dirty="0"/>
              <a:t>port‑security, uplink trunk </a:t>
            </a:r>
            <a:r>
              <a:rPr lang="ru-RU" dirty="0"/>
              <a:t>к </a:t>
            </a:r>
            <a:r>
              <a:rPr lang="en-US" dirty="0"/>
              <a:t>DSW1/DSW2</a:t>
            </a:r>
          </a:p>
          <a:p>
            <a:r>
              <a:rPr lang="ru-RU" b="1" dirty="0"/>
              <a:t>Серверы и ПК</a:t>
            </a:r>
            <a:endParaRPr lang="ru-RU" dirty="0"/>
          </a:p>
          <a:p>
            <a:r>
              <a:rPr lang="en-US" b="1" dirty="0"/>
              <a:t>Server‑SERV:</a:t>
            </a:r>
            <a:r>
              <a:rPr lang="en-US" dirty="0"/>
              <a:t> DHCP/DNS/NTP</a:t>
            </a:r>
          </a:p>
          <a:p>
            <a:r>
              <a:rPr lang="en-US" b="1" dirty="0"/>
              <a:t>Internet Server:</a:t>
            </a:r>
            <a:r>
              <a:rPr lang="en-US" dirty="0"/>
              <a:t> HTTP (198.51.100.10)</a:t>
            </a:r>
          </a:p>
          <a:p>
            <a:r>
              <a:rPr lang="en-US" b="1" dirty="0"/>
              <a:t>PC‑ADMIN / PC‑SUPER:</a:t>
            </a:r>
            <a:r>
              <a:rPr lang="en-US" dirty="0"/>
              <a:t> </a:t>
            </a:r>
            <a:r>
              <a:rPr lang="ru-RU" dirty="0"/>
              <a:t>управление из </a:t>
            </a:r>
            <a:r>
              <a:rPr lang="en-US" dirty="0"/>
              <a:t>VLAN99 (SSH)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72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VLAN‑</a:t>
            </a:r>
            <a:r>
              <a:rPr lang="ru-RU" dirty="0"/>
              <a:t>план и </a:t>
            </a:r>
            <a:r>
              <a:rPr lang="en-US" dirty="0"/>
              <a:t>IP‑</a:t>
            </a:r>
            <a:r>
              <a:rPr lang="ru-RU" dirty="0"/>
              <a:t>адресация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VLAN </a:t>
            </a:r>
            <a:r>
              <a:rPr lang="ru-RU" b="1" dirty="0"/>
              <a:t>и подсети:</a:t>
            </a:r>
            <a:endParaRPr lang="ru-RU" dirty="0"/>
          </a:p>
          <a:p>
            <a:r>
              <a:rPr lang="en-US" dirty="0"/>
              <a:t>VLAN10 RESIDENTIAL — 192.168.10.0/24, GW 192.168.10.1 (HSRP)</a:t>
            </a:r>
          </a:p>
          <a:p>
            <a:r>
              <a:rPr lang="en-US" dirty="0"/>
              <a:t>VLAN20 BUSINESS — 192.168.20.0/24, GW 192.168.20.1 (HSRP)</a:t>
            </a:r>
          </a:p>
          <a:p>
            <a:r>
              <a:rPr lang="en-US" dirty="0"/>
              <a:t>VLAN30 SERVICES — 192.168.30.0/24, GW 192.168.30.1 (HSRP), Server‑SERV 192.168.30.10</a:t>
            </a:r>
          </a:p>
          <a:p>
            <a:r>
              <a:rPr lang="en-US" dirty="0"/>
              <a:t>VLAN99 MGMT — 192.168.99.0/24, GW 192.168.99.1 (HSRP)</a:t>
            </a:r>
          </a:p>
          <a:p>
            <a:r>
              <a:rPr lang="en-US" dirty="0"/>
              <a:t>VLAN999 native/</a:t>
            </a:r>
            <a:r>
              <a:rPr lang="en-US" dirty="0" err="1"/>
              <a:t>blackhole</a:t>
            </a:r>
            <a:r>
              <a:rPr lang="en-US" dirty="0"/>
              <a:t> (</a:t>
            </a:r>
            <a:r>
              <a:rPr lang="ru-RU" dirty="0"/>
              <a:t>на </a:t>
            </a:r>
            <a:r>
              <a:rPr lang="en-US" dirty="0"/>
              <a:t>trunk, </a:t>
            </a:r>
            <a:r>
              <a:rPr lang="ru-RU" dirty="0"/>
              <a:t>без хостов)</a:t>
            </a:r>
          </a:p>
          <a:p>
            <a:r>
              <a:rPr lang="en-US" b="1" dirty="0"/>
              <a:t>L3 </a:t>
            </a:r>
            <a:r>
              <a:rPr lang="ru-RU" b="1" dirty="0" err="1"/>
              <a:t>линк</a:t>
            </a:r>
            <a:r>
              <a:rPr lang="ru-RU" b="1" dirty="0"/>
              <a:t>‑сети:</a:t>
            </a:r>
            <a:endParaRPr lang="ru-RU" dirty="0"/>
          </a:p>
          <a:p>
            <a:r>
              <a:rPr lang="en-US" dirty="0"/>
              <a:t>R‑EDGE ↔ R‑ISP: 203.0.113.0/30 (outside)</a:t>
            </a:r>
          </a:p>
          <a:p>
            <a:r>
              <a:rPr lang="en-US" dirty="0"/>
              <a:t>R‑EDGE ↔ DSW1: 10.0.0.0/30</a:t>
            </a:r>
          </a:p>
          <a:p>
            <a:r>
              <a:rPr lang="en-US" dirty="0"/>
              <a:t>R‑EDGE ↔ DSW2: 10.0.0.4/30</a:t>
            </a:r>
          </a:p>
          <a:p>
            <a:r>
              <a:rPr lang="en-US" dirty="0"/>
              <a:t>R‑ISP ↔ Internet Server: 198.51.100.0/24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02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L2: Trunk </a:t>
            </a:r>
            <a:r>
              <a:rPr lang="ru-RU" dirty="0"/>
              <a:t>и </a:t>
            </a:r>
            <a:r>
              <a:rPr lang="en-US" dirty="0"/>
              <a:t>STP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uplink’</a:t>
            </a:r>
            <a:r>
              <a:rPr lang="ru-RU" dirty="0"/>
              <a:t>и от </a:t>
            </a:r>
            <a:r>
              <a:rPr lang="en-US" dirty="0"/>
              <a:t>ASW1/ASW2 </a:t>
            </a:r>
            <a:r>
              <a:rPr lang="ru-RU" dirty="0"/>
              <a:t>к </a:t>
            </a:r>
            <a:r>
              <a:rPr lang="en-US" dirty="0"/>
              <a:t>DSW1/DSW2 — trunk</a:t>
            </a:r>
          </a:p>
          <a:p>
            <a:r>
              <a:rPr lang="ru-RU" dirty="0"/>
              <a:t>разрешённые </a:t>
            </a:r>
            <a:r>
              <a:rPr lang="en-US" dirty="0"/>
              <a:t>VLAN: 10,20,30,99 (+ native 999)</a:t>
            </a:r>
          </a:p>
          <a:p>
            <a:pPr marL="133350" indent="0">
              <a:buNone/>
            </a:pPr>
            <a:r>
              <a:rPr lang="en-US" b="1" dirty="0" smtClean="0"/>
              <a:t>STP</a:t>
            </a:r>
            <a:r>
              <a:rPr lang="en-US" b="1" dirty="0"/>
              <a:t>: Rapid PVST+</a:t>
            </a:r>
            <a:endParaRPr lang="en-US" dirty="0"/>
          </a:p>
          <a:p>
            <a:r>
              <a:rPr lang="en-US" dirty="0"/>
              <a:t>DSW1 — root primary </a:t>
            </a:r>
            <a:r>
              <a:rPr lang="ru-RU" dirty="0"/>
              <a:t>для </a:t>
            </a:r>
            <a:r>
              <a:rPr lang="en-US" dirty="0"/>
              <a:t>VLAN10/30/99</a:t>
            </a:r>
          </a:p>
          <a:p>
            <a:r>
              <a:rPr lang="en-US" dirty="0"/>
              <a:t>DSW2 — root primary </a:t>
            </a:r>
            <a:r>
              <a:rPr lang="ru-RU" dirty="0"/>
              <a:t>для </a:t>
            </a:r>
            <a:r>
              <a:rPr lang="en-US" dirty="0"/>
              <a:t>VLAN20</a:t>
            </a:r>
          </a:p>
          <a:p>
            <a:r>
              <a:rPr lang="ru-RU" dirty="0"/>
              <a:t>на </a:t>
            </a:r>
            <a:r>
              <a:rPr lang="en-US" dirty="0"/>
              <a:t>access‑</a:t>
            </a:r>
            <a:r>
              <a:rPr lang="ru-RU" dirty="0"/>
              <a:t>портах включены </a:t>
            </a:r>
            <a:r>
              <a:rPr lang="en-US" dirty="0" err="1"/>
              <a:t>PortFast</a:t>
            </a:r>
            <a:r>
              <a:rPr lang="en-US" dirty="0"/>
              <a:t> + BPDU </a:t>
            </a:r>
            <a:r>
              <a:rPr lang="en-US" dirty="0" smtClean="0"/>
              <a:t>Guard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EtherChannel</a:t>
            </a:r>
            <a:r>
              <a:rPr lang="en-US" dirty="0"/>
              <a:t> </a:t>
            </a:r>
            <a:r>
              <a:rPr lang="ru-RU" dirty="0"/>
              <a:t>между </a:t>
            </a:r>
            <a:r>
              <a:rPr lang="en-US" dirty="0"/>
              <a:t>DSW1 </a:t>
            </a:r>
            <a:r>
              <a:rPr lang="ru-RU" dirty="0"/>
              <a:t>и </a:t>
            </a:r>
            <a:r>
              <a:rPr lang="en-US" dirty="0"/>
              <a:t>DSW2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объединяет 2 физических </a:t>
            </a:r>
            <a:r>
              <a:rPr lang="ru-RU" dirty="0" err="1"/>
              <a:t>линка</a:t>
            </a:r>
            <a:r>
              <a:rPr lang="ru-RU" dirty="0"/>
              <a:t> между DSW1 и DSW2</a:t>
            </a:r>
          </a:p>
          <a:p>
            <a:r>
              <a:rPr lang="ru-RU" dirty="0"/>
              <a:t>даёт +пропускную способность и </a:t>
            </a:r>
            <a:r>
              <a:rPr lang="ru-RU" dirty="0" smtClean="0"/>
              <a:t>+устойчивость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01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L3: SVI, HSRP и маршрутизация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Inter‑VLAN routing</a:t>
            </a:r>
            <a:endParaRPr lang="en-US" dirty="0"/>
          </a:p>
          <a:p>
            <a:r>
              <a:rPr lang="ru-RU" dirty="0"/>
              <a:t>на </a:t>
            </a:r>
            <a:r>
              <a:rPr lang="en-US" dirty="0"/>
              <a:t>DSW1/DSW2 </a:t>
            </a:r>
            <a:r>
              <a:rPr lang="ru-RU" dirty="0"/>
              <a:t>подняты </a:t>
            </a:r>
            <a:r>
              <a:rPr lang="en-US" dirty="0"/>
              <a:t>SVI VLAN10/20/30/99</a:t>
            </a:r>
          </a:p>
          <a:p>
            <a:r>
              <a:rPr lang="ru-RU" dirty="0"/>
              <a:t>включен </a:t>
            </a:r>
            <a:r>
              <a:rPr lang="en-US" dirty="0" err="1"/>
              <a:t>ip</a:t>
            </a:r>
            <a:r>
              <a:rPr lang="en-US" dirty="0"/>
              <a:t> routing</a:t>
            </a:r>
          </a:p>
          <a:p>
            <a:r>
              <a:rPr lang="en-US" b="1" dirty="0"/>
              <a:t>HSRP</a:t>
            </a:r>
            <a:endParaRPr lang="en-US" dirty="0"/>
          </a:p>
          <a:p>
            <a:r>
              <a:rPr lang="ru-RU" dirty="0"/>
              <a:t>виртуальный шлюз .1 в каждом </a:t>
            </a:r>
            <a:r>
              <a:rPr lang="en-US" dirty="0"/>
              <a:t>VLAN</a:t>
            </a:r>
          </a:p>
          <a:p>
            <a:r>
              <a:rPr lang="ru-RU" dirty="0"/>
              <a:t>распределение ролей:</a:t>
            </a:r>
          </a:p>
          <a:p>
            <a:pPr lvl="1"/>
            <a:r>
              <a:rPr lang="en-US" dirty="0"/>
              <a:t>DSW1 </a:t>
            </a:r>
            <a:r>
              <a:rPr lang="ru-RU" dirty="0"/>
              <a:t>активен: </a:t>
            </a:r>
            <a:r>
              <a:rPr lang="en-US" dirty="0"/>
              <a:t>VLAN10/30/99</a:t>
            </a:r>
          </a:p>
          <a:p>
            <a:pPr lvl="1"/>
            <a:r>
              <a:rPr lang="en-US" dirty="0"/>
              <a:t>DSW2 </a:t>
            </a:r>
            <a:r>
              <a:rPr lang="ru-RU" dirty="0"/>
              <a:t>активен: </a:t>
            </a:r>
            <a:r>
              <a:rPr lang="en-US" dirty="0"/>
              <a:t>VLAN20</a:t>
            </a:r>
          </a:p>
          <a:p>
            <a:r>
              <a:rPr lang="ru-RU" dirty="0"/>
              <a:t>при отказе одного </a:t>
            </a:r>
            <a:r>
              <a:rPr lang="en-US" dirty="0"/>
              <a:t>DSW — </a:t>
            </a:r>
            <a:r>
              <a:rPr lang="ru-RU" dirty="0"/>
              <a:t>второй принимает виртуальный </a:t>
            </a:r>
            <a:r>
              <a:rPr lang="en-US" dirty="0"/>
              <a:t>gateway</a:t>
            </a:r>
          </a:p>
          <a:p>
            <a:r>
              <a:rPr lang="ru-RU" b="1" dirty="0"/>
              <a:t>Маршрутизация к </a:t>
            </a:r>
            <a:r>
              <a:rPr lang="en-US" b="1" dirty="0"/>
              <a:t>Edge</a:t>
            </a:r>
            <a:endParaRPr lang="en-US" dirty="0"/>
          </a:p>
          <a:p>
            <a:r>
              <a:rPr lang="ru-RU" dirty="0"/>
              <a:t>на </a:t>
            </a:r>
            <a:r>
              <a:rPr lang="en-US" dirty="0"/>
              <a:t>DSW1 default route → 10.0.0.1</a:t>
            </a:r>
          </a:p>
          <a:p>
            <a:r>
              <a:rPr lang="ru-RU" dirty="0"/>
              <a:t>на </a:t>
            </a:r>
            <a:r>
              <a:rPr lang="en-US" dirty="0"/>
              <a:t>DSW2 default route → 10.0.0.5</a:t>
            </a:r>
          </a:p>
          <a:p>
            <a:r>
              <a:rPr lang="ru-RU" dirty="0"/>
              <a:t>на </a:t>
            </a:r>
            <a:r>
              <a:rPr lang="en-US" dirty="0"/>
              <a:t>R‑EDGE </a:t>
            </a:r>
            <a:r>
              <a:rPr lang="ru-RU" dirty="0"/>
              <a:t>маршруты во внутренние </a:t>
            </a:r>
            <a:r>
              <a:rPr lang="ru-RU" dirty="0" smtClean="0"/>
              <a:t>сети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33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DHCP/DNS/NTP (Server‑SERV + relay)</a:t>
            </a:r>
            <a:br>
              <a:rPr lang="en-US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Server‑SERV (192.168.30.10)</a:t>
            </a:r>
            <a:endParaRPr lang="en-US" dirty="0"/>
          </a:p>
          <a:p>
            <a:r>
              <a:rPr lang="en-US" dirty="0"/>
              <a:t>DHCP </a:t>
            </a:r>
            <a:r>
              <a:rPr lang="ru-RU" dirty="0"/>
              <a:t>включён</a:t>
            </a:r>
          </a:p>
          <a:p>
            <a:r>
              <a:rPr lang="ru-RU" dirty="0"/>
              <a:t>пулы:</a:t>
            </a:r>
          </a:p>
          <a:p>
            <a:pPr lvl="1"/>
            <a:r>
              <a:rPr lang="en-US" dirty="0"/>
              <a:t>VLAN10 (</a:t>
            </a:r>
            <a:r>
              <a:rPr lang="en-US" dirty="0" smtClean="0"/>
              <a:t>192.168.10.0/24)</a:t>
            </a:r>
            <a:endParaRPr lang="en-US" dirty="0"/>
          </a:p>
          <a:p>
            <a:pPr lvl="1"/>
            <a:r>
              <a:rPr lang="en-US" dirty="0"/>
              <a:t>VLAN20 (</a:t>
            </a:r>
            <a:r>
              <a:rPr lang="en-US" dirty="0" smtClean="0"/>
              <a:t>192.168.20.</a:t>
            </a:r>
            <a:r>
              <a:rPr lang="en-US" dirty="0"/>
              <a:t> 0/24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VLAN99 (</a:t>
            </a:r>
            <a:r>
              <a:rPr lang="en-US" dirty="0" smtClean="0"/>
              <a:t>192.168.99.</a:t>
            </a:r>
            <a:r>
              <a:rPr lang="en-US" dirty="0"/>
              <a:t> 0/24</a:t>
            </a:r>
            <a:r>
              <a:rPr lang="en-US" dirty="0" smtClean="0"/>
              <a:t>)</a:t>
            </a:r>
            <a:endParaRPr lang="ru-RU" dirty="0"/>
          </a:p>
          <a:p>
            <a:r>
              <a:rPr lang="en-US" b="1" dirty="0"/>
              <a:t>DHCP Relay</a:t>
            </a:r>
            <a:endParaRPr lang="en-US" dirty="0"/>
          </a:p>
          <a:p>
            <a:r>
              <a:rPr lang="ru-RU" dirty="0"/>
              <a:t>на </a:t>
            </a:r>
            <a:r>
              <a:rPr lang="en-US" dirty="0"/>
              <a:t>SVI VLAN10/VLAN20/VLAN99 — </a:t>
            </a:r>
            <a:r>
              <a:rPr lang="en-US" dirty="0" err="1"/>
              <a:t>ip</a:t>
            </a:r>
            <a:r>
              <a:rPr lang="en-US" dirty="0"/>
              <a:t> helper-address 192.168.30.10</a:t>
            </a:r>
          </a:p>
          <a:p>
            <a:r>
              <a:rPr lang="en-US" b="1" dirty="0"/>
              <a:t>DNS</a:t>
            </a:r>
            <a:endParaRPr lang="en-US" dirty="0"/>
          </a:p>
          <a:p>
            <a:r>
              <a:rPr lang="ru-RU" dirty="0"/>
              <a:t>запись: </a:t>
            </a:r>
            <a:r>
              <a:rPr lang="en-US" dirty="0"/>
              <a:t>www.internet.test → 198.51.100.10</a:t>
            </a:r>
          </a:p>
          <a:p>
            <a:r>
              <a:rPr lang="en-US" b="1" dirty="0"/>
              <a:t>NTP</a:t>
            </a:r>
            <a:endParaRPr lang="en-US" dirty="0"/>
          </a:p>
          <a:p>
            <a:r>
              <a:rPr lang="en-US" dirty="0"/>
              <a:t>NTP On </a:t>
            </a:r>
            <a:r>
              <a:rPr lang="ru-RU" dirty="0"/>
              <a:t>на сервере</a:t>
            </a:r>
          </a:p>
          <a:p>
            <a:r>
              <a:rPr lang="ru-RU" dirty="0"/>
              <a:t>устройства — </a:t>
            </a:r>
            <a:r>
              <a:rPr lang="en-US" dirty="0"/>
              <a:t>NTP clients </a:t>
            </a:r>
            <a:r>
              <a:rPr lang="ru-RU" dirty="0"/>
              <a:t>на 192.168.30.10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0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Эмуляция Интернета и </a:t>
            </a:r>
            <a:r>
              <a:rPr lang="en-US" dirty="0"/>
              <a:t>NAT/PAT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Internet‑</a:t>
            </a:r>
            <a:r>
              <a:rPr lang="ru-RU" b="1" dirty="0"/>
              <a:t>модель в </a:t>
            </a:r>
            <a:r>
              <a:rPr lang="en-US" b="1" dirty="0"/>
              <a:t>CPT</a:t>
            </a:r>
            <a:endParaRPr lang="en-US" dirty="0"/>
          </a:p>
          <a:p>
            <a:r>
              <a:rPr lang="en-US" dirty="0"/>
              <a:t>R‑ISP “</a:t>
            </a:r>
            <a:r>
              <a:rPr lang="ru-RU" dirty="0"/>
              <a:t>как Интернет”</a:t>
            </a:r>
          </a:p>
          <a:p>
            <a:r>
              <a:rPr lang="en-US" dirty="0"/>
              <a:t>Internet Server 198.51.100.10 </a:t>
            </a:r>
            <a:r>
              <a:rPr lang="ru-RU" dirty="0"/>
              <a:t>с </a:t>
            </a:r>
            <a:r>
              <a:rPr lang="en-US" dirty="0"/>
              <a:t>HTTP</a:t>
            </a:r>
          </a:p>
          <a:p>
            <a:r>
              <a:rPr lang="en-US" b="1" dirty="0"/>
              <a:t>NAT/PAT </a:t>
            </a:r>
            <a:r>
              <a:rPr lang="ru-RU" b="1" dirty="0"/>
              <a:t>на </a:t>
            </a:r>
            <a:r>
              <a:rPr lang="en-US" b="1" dirty="0"/>
              <a:t>R‑EDGE</a:t>
            </a:r>
            <a:endParaRPr lang="en-US" dirty="0"/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inside </a:t>
            </a:r>
            <a:r>
              <a:rPr lang="ru-RU" dirty="0"/>
              <a:t>на </a:t>
            </a:r>
            <a:r>
              <a:rPr lang="ru-RU" dirty="0" err="1"/>
              <a:t>линках</a:t>
            </a:r>
            <a:r>
              <a:rPr lang="ru-RU" dirty="0"/>
              <a:t> к </a:t>
            </a:r>
            <a:r>
              <a:rPr lang="en-US" dirty="0"/>
              <a:t>DSW1/DSW2</a:t>
            </a:r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outside </a:t>
            </a:r>
            <a:r>
              <a:rPr lang="ru-RU" dirty="0"/>
              <a:t>на </a:t>
            </a:r>
            <a:r>
              <a:rPr lang="en-US" dirty="0"/>
              <a:t>WAN </a:t>
            </a:r>
            <a:r>
              <a:rPr lang="ru-RU" dirty="0"/>
              <a:t>к </a:t>
            </a:r>
            <a:r>
              <a:rPr lang="en-US" dirty="0"/>
              <a:t>R‑ISP</a:t>
            </a:r>
          </a:p>
          <a:p>
            <a:r>
              <a:rPr lang="en-US" dirty="0"/>
              <a:t>PAT overload: </a:t>
            </a:r>
            <a:r>
              <a:rPr lang="ru-RU" dirty="0"/>
              <a:t>все 192.168.0.0/16 транслируются в 203.0.113.2</a:t>
            </a:r>
          </a:p>
          <a:p>
            <a:pPr marL="1333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40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 </a:t>
            </a:r>
            <a:r>
              <a:rPr lang="ru-RU" dirty="0"/>
              <a:t>и </a:t>
            </a:r>
            <a:r>
              <a:rPr lang="en-US" dirty="0"/>
              <a:t>Port‑Security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ACL </a:t>
            </a:r>
            <a:r>
              <a:rPr lang="ru-RU" b="1" dirty="0"/>
              <a:t>на </a:t>
            </a:r>
            <a:r>
              <a:rPr lang="en-US" b="1" dirty="0"/>
              <a:t>DSW (inbound </a:t>
            </a:r>
            <a:r>
              <a:rPr lang="ru-RU" b="1" dirty="0"/>
              <a:t>на </a:t>
            </a:r>
            <a:r>
              <a:rPr lang="en-US" b="1" dirty="0"/>
              <a:t>SVI VLAN10/VLAN20):</a:t>
            </a:r>
            <a:endParaRPr lang="en-US" dirty="0"/>
          </a:p>
          <a:p>
            <a:r>
              <a:rPr lang="ru-RU" dirty="0"/>
              <a:t>запрет доступа абонентов к </a:t>
            </a:r>
            <a:r>
              <a:rPr lang="en-US" dirty="0"/>
              <a:t>VLAN99</a:t>
            </a:r>
          </a:p>
          <a:p>
            <a:r>
              <a:rPr lang="ru-RU" dirty="0"/>
              <a:t>изоляция </a:t>
            </a:r>
            <a:r>
              <a:rPr lang="en-US" dirty="0"/>
              <a:t>VLAN10 ↔ VLAN20</a:t>
            </a:r>
          </a:p>
          <a:p>
            <a:r>
              <a:rPr lang="ru-RU" dirty="0"/>
              <a:t>остальной трафик разрешён (в </a:t>
            </a:r>
            <a:r>
              <a:rPr lang="ru-RU" dirty="0" err="1"/>
              <a:t>т.ч</a:t>
            </a:r>
            <a:r>
              <a:rPr lang="ru-RU" dirty="0"/>
              <a:t>. в Интернет)</a:t>
            </a:r>
          </a:p>
          <a:p>
            <a:r>
              <a:rPr lang="en-US" b="1" dirty="0"/>
              <a:t>Port‑Security </a:t>
            </a:r>
            <a:r>
              <a:rPr lang="ru-RU" b="1" dirty="0"/>
              <a:t>на </a:t>
            </a:r>
            <a:r>
              <a:rPr lang="en-US" b="1" dirty="0"/>
              <a:t>ASW</a:t>
            </a:r>
            <a:endParaRPr lang="en-US" dirty="0"/>
          </a:p>
          <a:p>
            <a:r>
              <a:rPr lang="en-US" dirty="0"/>
              <a:t>max 3 MAC </a:t>
            </a:r>
            <a:r>
              <a:rPr lang="ru-RU" dirty="0"/>
              <a:t>на </a:t>
            </a:r>
            <a:r>
              <a:rPr lang="en-US" dirty="0"/>
              <a:t>access‑</a:t>
            </a:r>
            <a:r>
              <a:rPr lang="ru-RU" dirty="0"/>
              <a:t>порту</a:t>
            </a:r>
          </a:p>
          <a:p>
            <a:r>
              <a:rPr lang="en-US" dirty="0"/>
              <a:t>sticky MAC</a:t>
            </a:r>
          </a:p>
          <a:p>
            <a:r>
              <a:rPr lang="en-US" dirty="0"/>
              <a:t>violation restrict</a:t>
            </a:r>
          </a:p>
          <a:p>
            <a:r>
              <a:rPr lang="ru-RU" dirty="0"/>
              <a:t>защита от петли: </a:t>
            </a:r>
            <a:r>
              <a:rPr lang="en-US" dirty="0" err="1"/>
              <a:t>PortFast</a:t>
            </a:r>
            <a:r>
              <a:rPr lang="en-US" dirty="0"/>
              <a:t> + BPDU Guard</a:t>
            </a:r>
          </a:p>
          <a:p>
            <a:pPr marL="1333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774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и вывод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Все тесты и скриншоты представлены в курсовой работе на </a:t>
            </a:r>
            <a:r>
              <a:rPr lang="en-US" b="1" dirty="0" smtClean="0"/>
              <a:t>GitHub</a:t>
            </a:r>
          </a:p>
          <a:p>
            <a:pPr marL="133350" indent="0">
              <a:buNone/>
            </a:pPr>
            <a:r>
              <a:rPr lang="en-US" b="1" dirty="0"/>
              <a:t>https://github.com/ALEKSANDR-D19/OtusBasic/tree/main/Course%20paper</a:t>
            </a:r>
            <a:endParaRPr lang="ru-RU" b="1" dirty="0" smtClean="0"/>
          </a:p>
          <a:p>
            <a:r>
              <a:rPr lang="ru-RU" b="1" dirty="0" smtClean="0"/>
              <a:t>Итог</a:t>
            </a:r>
            <a:r>
              <a:rPr lang="ru-RU" b="1" dirty="0"/>
              <a:t>:</a:t>
            </a:r>
            <a:r>
              <a:rPr lang="ru-RU" dirty="0"/>
              <a:t> сеть провайдера в CPT настроена, абоненты получают IP по DHCP и выходят в Интернет через NAT/PAT, управление защищено SSH+ACL, L2‑устойчивость обеспечена STP и резервными связями.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004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43"/>
          <p:cNvSpPr txBox="1"/>
          <p:nvPr/>
        </p:nvSpPr>
        <p:spPr>
          <a:xfrm>
            <a:off x="6078039" y="685126"/>
            <a:ext cx="267951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732</Words>
  <Application>Microsoft Office PowerPoint</Application>
  <PresentationFormat>Экран (16:9)</PresentationFormat>
  <Paragraphs>148</Paragraphs>
  <Slides>22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   </vt:lpstr>
      <vt:lpstr>План защиты</vt:lpstr>
      <vt:lpstr>Презентация PowerPoint</vt:lpstr>
      <vt:lpstr>Какие технологии использовались </vt:lpstr>
      <vt:lpstr>Что получилось  В ходе выполнения курсовой работы разработана модель сети интернет-провайдера в CPT, включающая сегментацию по VLAN, отказоустойчивые соединения и шлюз по умолчанию, централизованную выдачу IP по DHCP, синхронизацию времени по NTP, защиту доступа ACL, удаленное администрирование по SSH и выход в интернет через NAT. Реализована базовая безопасность: ограничение управления только из VLAN99, два администратора с разными правами, а также Port-Security на access-портах (максимум 3 MAC-адреса). Проведенные тесты подтверждают работоспособность сети и устойчивость к отказу отдельных линий связи. </vt:lpstr>
      <vt:lpstr>Топология сети</vt:lpstr>
      <vt:lpstr>Топология сети</vt:lpstr>
      <vt:lpstr>Используемое оборудование и роли</vt:lpstr>
      <vt:lpstr>VLAN‑план и IP‑адресация </vt:lpstr>
      <vt:lpstr>L2: Trunk и STP</vt:lpstr>
      <vt:lpstr>EtherChannel между DSW1 и DSW2</vt:lpstr>
      <vt:lpstr>L3: SVI, HSRP и маршрутизация</vt:lpstr>
      <vt:lpstr>DHCP/DNS/NTP (Server‑SERV + relay) </vt:lpstr>
      <vt:lpstr>Эмуляция Интернета и NAT/PAT</vt:lpstr>
      <vt:lpstr>ACL и Port‑Security</vt:lpstr>
      <vt:lpstr>Тесты и вывод </vt:lpstr>
      <vt:lpstr>Презентация PowerPoint</vt:lpstr>
      <vt:lpstr>Спасибо за внимание!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Sashka</dc:creator>
  <cp:lastModifiedBy>Александр</cp:lastModifiedBy>
  <cp:revision>12</cp:revision>
  <dcterms:modified xsi:type="dcterms:W3CDTF">2026-01-11T23:33:11Z</dcterms:modified>
</cp:coreProperties>
</file>